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98480" cy="7589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7589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6000" b="1">
                <a:solidFill>
                  <a:srgbClr val="1A1A1A"/>
                </a:solidFill>
              </a:rPr>
              <a:t>수주</a:t>
            </a:r>
          </a:p>
          <a:p>
            <a:pPr algn="l"/>
            <a:r>
              <a:rPr sz="6000" b="1">
                <a:solidFill>
                  <a:srgbClr val="1A1A1A"/>
                </a:solidFill>
              </a:rPr>
              <a:t>에이전트 AI</a:t>
            </a:r>
          </a:p>
          <a:p>
            <a:pPr algn="l"/>
            <a:r>
              <a:rPr sz="6000" b="1">
                <a:solidFill>
                  <a:srgbClr val="1A1A1A"/>
                </a:solidFill>
              </a:rPr>
              <a:t>서비스소개서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5486400"/>
            <a:ext cx="2926080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5760720"/>
            <a:ext cx="54864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444444"/>
                </a:solidFill>
              </a:rPr>
              <a:t>RFP 분석부터 발표 Q&amp;A까지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371600"/>
            <a:ext cx="2286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0" b="1">
                <a:solidFill>
                  <a:srgbClr val="1A1A1A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834640"/>
            <a:ext cx="2286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단계  ·  AI 파이프라인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0" y="3291840"/>
            <a:ext cx="2286000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0" y="3657600"/>
            <a:ext cx="2286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0" b="1">
                <a:solidFill>
                  <a:srgbClr val="1A1A1A"/>
                </a:solidFill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5120640"/>
            <a:ext cx="2286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개  ·  AI 에이전트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7223760"/>
            <a:ext cx="9966960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999999"/>
                </a:solidFill>
              </a:rPr>
              <a:t>NIGHTOFF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01 /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91440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서비스 프로세스 — 고객사 입장에서 어떻게 진행되는가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</a:rPr>
              <a:t>당신은 수행에 집중, 기회 발굴과 수주는 저희가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</a:rPr>
              <a:t>RFP 공유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수 초</a:t>
            </a:r>
          </a:p>
        </p:txBody>
      </p:sp>
      <p:sp>
        <p:nvSpPr>
          <p:cNvPr id="8" name="Oval 7"/>
          <p:cNvSpPr/>
          <p:nvPr/>
        </p:nvSpPr>
        <p:spPr>
          <a:xfrm>
            <a:off x="292608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</a:rPr>
              <a:t>자동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수 시간</a:t>
            </a:r>
          </a:p>
        </p:txBody>
      </p:sp>
      <p:sp>
        <p:nvSpPr>
          <p:cNvPr id="12" name="Oval 11"/>
          <p:cNvSpPr/>
          <p:nvPr/>
        </p:nvSpPr>
        <p:spPr>
          <a:xfrm>
            <a:off x="493776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</a:rPr>
              <a:t>전략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30분</a:t>
            </a:r>
          </a:p>
        </p:txBody>
      </p:sp>
      <p:sp>
        <p:nvSpPr>
          <p:cNvPr id="16" name="Oval 15"/>
          <p:cNvSpPr/>
          <p:nvPr/>
        </p:nvSpPr>
        <p:spPr>
          <a:xfrm>
            <a:off x="694944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</a:rPr>
              <a:t>초안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1~2일</a:t>
            </a:r>
          </a:p>
        </p:txBody>
      </p:sp>
      <p:sp>
        <p:nvSpPr>
          <p:cNvPr id="20" name="Oval 19"/>
          <p:cNvSpPr/>
          <p:nvPr/>
        </p:nvSpPr>
        <p:spPr>
          <a:xfrm>
            <a:off x="896112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</a:rPr>
              <a:t>납품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D-Day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54480" y="3520440"/>
            <a:ext cx="74066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520440"/>
            <a:ext cx="1097280" cy="0"/>
          </a:xfrm>
          <a:prstGeom prst="line">
            <a:avLst/>
          </a:prstGeom>
          <a:ln w="19050">
            <a:solidFill>
              <a:srgbClr val="0000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5760" y="7223760"/>
            <a:ext cx="9966960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999999"/>
                </a:solidFill>
              </a:rPr>
              <a:t>NIGHTOFF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