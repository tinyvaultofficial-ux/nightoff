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8480" cy="7589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7589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3657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Paperlogy 9 Black"/>
              </a:rPr>
              <a:t>수주</a:t>
            </a:r>
          </a:p>
          <a:p>
            <a:pPr algn="l"/>
            <a:r>
              <a:rPr sz="6000" b="1">
                <a:solidFill>
                  <a:srgbClr val="1A1A1A"/>
                </a:solidFill>
                <a:latin typeface="Paperlogy 9 Black"/>
              </a:rPr>
              <a:t>에이전트 AI</a:t>
            </a:r>
          </a:p>
          <a:p>
            <a:pPr algn="l"/>
            <a:r>
              <a:rPr sz="6000" b="1">
                <a:solidFill>
                  <a:srgbClr val="1A1A1A"/>
                </a:solidFill>
                <a:latin typeface="Paperlogy 9 Black"/>
              </a:rPr>
              <a:t>서비스소개서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5486400"/>
            <a:ext cx="292608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5760720"/>
            <a:ext cx="54864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44444"/>
                </a:solidFill>
                <a:latin typeface="Paperlogy 6 SemiBold"/>
              </a:rPr>
              <a:t>RFP 분석부터 발표 Q&amp;A까지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22860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0" b="1">
                <a:solidFill>
                  <a:srgbClr val="1A1A1A"/>
                </a:solidFill>
                <a:latin typeface="Paperlogy 9 Black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8346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Paperlogy 4 Regular"/>
              </a:rPr>
              <a:t>단계  ·  AI 파이프라인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0" y="3291840"/>
            <a:ext cx="228600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0" y="3657600"/>
            <a:ext cx="22860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0" b="1">
                <a:solidFill>
                  <a:srgbClr val="1A1A1A"/>
                </a:solidFill>
                <a:latin typeface="Paperlogy 9 Black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1206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Paperlogy 4 Regular"/>
              </a:rPr>
              <a:t>개  ·  AI 에이전트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7223760"/>
            <a:ext cx="996696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7269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99999"/>
                </a:solidFill>
                <a:latin typeface="Paperlogy 6 SemiBold"/>
              </a:rPr>
              <a:t>NIGHTOFF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7269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Paperlogy 4 Regular"/>
              </a:rP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aperlogy 8 ExtraBold"/>
              </a:rPr>
              <a:t>서비스 프로세스 — 고객사 입장에서 어떻게 진행되는가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aperlogy 4 Regular"/>
              </a:rPr>
              <a:t>당신은 수행에 집중, 기회 발굴과 수주는 저희가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320040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aperlogy 7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Paperlogy 7 Bold"/>
              </a:rPr>
              <a:t>RFP 공유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23360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Paperlogy 4 Regular"/>
              </a:rPr>
              <a:t>수 초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320040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20040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aperlogy 7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86000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Paperlogy 7 Bold"/>
              </a:rPr>
              <a:t>자동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023360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Paperlogy 4 Regular"/>
              </a:rPr>
              <a:t>수 시간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320040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20040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aperlogy 7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Paperlogy 7 Bold"/>
              </a:rPr>
              <a:t>전략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23360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Paperlogy 4 Regular"/>
              </a:rPr>
              <a:t>30분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320040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20040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aperlogy 7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Paperlogy 7 Bold"/>
              </a:rPr>
              <a:t>초안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Paperlogy 4 Regular"/>
              </a:rPr>
              <a:t>1~2일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0" y="320040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20040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aperlogy 7 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Paperlogy 7 Bold"/>
              </a:rPr>
              <a:t>납품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023360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Paperlogy 4 Regular"/>
              </a:rPr>
              <a:t>D-Day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54480" y="3520440"/>
            <a:ext cx="7406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61120" y="3520440"/>
            <a:ext cx="1097280" cy="0"/>
          </a:xfrm>
          <a:prstGeom prst="line">
            <a:avLst/>
          </a:prstGeom>
          <a:ln w="19050">
            <a:solidFill>
              <a:srgbClr val="000000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" y="7223760"/>
            <a:ext cx="996696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7269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99999"/>
                </a:solidFill>
                <a:latin typeface="Paperlogy 6 SemiBold"/>
              </a:rPr>
              <a:t>NIGHTOFF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7269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Paperlogy 4 Regular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